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Hiragino Sans"/>
              </a:rPr>
              <a:t>3rd Place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7A2A"/>
                </a:solidFill>
                <a:latin typeface="Hiragino Sans"/>
              </a:rPr>
              <a:t>メルボルン日本人コミュニティ × 仕事・住居マッチング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8F0"/>
                </a:solidFill>
                <a:latin typeface="Hiragino Sans"/>
              </a:rPr>
              <a:t>先輩の経験を、後輩へ。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40A04"/>
                </a:solidFill>
                <a:latin typeface="Hiragino Sans"/>
              </a:rPr>
              <a:t>運営メンバー説明会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本日のアジェンダ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17320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808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01  3rd Place Hub とは何か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93976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5747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02  なぜ今メルボルンで必要なのか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70632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8341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03  サービスの仕組み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447288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5107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04  コミュニティの現在地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123944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18744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05  ビジネスモデル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00600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8641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06  これからのビジョンとフェーズ計画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477256"/>
            <a:ext cx="9144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54075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0A04"/>
                </a:solidFill>
                <a:latin typeface="Hiragino Sans"/>
              </a:rPr>
              <a:t>07  一緒に運営しませんか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3rd Place Hub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メルボルン日本人コミュニティ発・仕事と住居のマッチングプラットフォーム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100584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iragino Sans"/>
              </a:rPr>
              <a:t>先輩の「生の経験」を、これから渡航する後輩へバトンパスする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0A04"/>
                </a:solidFill>
                <a:latin typeface="Hiragino Sans"/>
              </a:rPr>
              <a:t>第1の場所
（家）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自分の部屋・住まい
安心できる私的空間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60604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97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0A04"/>
                </a:solidFill>
                <a:latin typeface="Hiragino Sans"/>
              </a:rPr>
              <a:t>第2の場所
（職場・学校）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仕事・学校など
義務がある公的空間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606040"/>
            <a:ext cx="3566160" cy="2377440"/>
          </a:xfrm>
          <a:prstGeom prst="rect">
            <a:avLst/>
          </a:prstGeom>
          <a:solidFill>
            <a:srgbClr val="E87A2A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974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iragino Sans"/>
              </a:rPr>
              <a:t>第3の場所
（コミュニティ）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Sans"/>
              </a:rPr>
              <a:t>どちらでもない
「居場所」がある空間
← ここを作る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05A"/>
                </a:solidFill>
                <a:latin typeface="Hiragino Sans"/>
              </a:rPr>
              <a:t>理念：まごころ（見返りを求めない善意）を基盤としたコミュニティ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なぜ今、これが必要なのか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メルボルン在住日本人が抱えるリアルな課題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😰 仕事が見つからない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0A04"/>
                </a:solidFill>
                <a:latin typeface="Hiragino Sans"/>
              </a:rPr>
              <a:t>英語力・経験不足でローカル企業への応募が難しい
求人サイトに載っていない「日本語OKな職場」の情報がない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358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🏠 住居探しが不安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9300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0A04"/>
                </a:solidFill>
                <a:latin typeface="Hiragino Sans"/>
              </a:rPr>
              <a:t>Flatmatesなど英語プラットフォームのハードルが高い
どのエリアが安全か・相場がわからない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114300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902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🤝 頼れる人がいない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4748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0A04"/>
                </a:solidFill>
                <a:latin typeface="Hiragino Sans"/>
              </a:rPr>
              <a:t>渡航直後は繋がりがゼロ
SNSの情報は古い・不確か・悪用される危険もある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7A2A"/>
                </a:solidFill>
                <a:latin typeface="Hiragino Sans"/>
              </a:rPr>
              <a:t>→ 「信頼できる先輩の経験」が最大の解決策になる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サービスの仕組み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5ステップのユーザーライフサイクル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2103120" cy="411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97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STAGE 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83080"/>
            <a:ext cx="2103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0A04"/>
                </a:solidFill>
                <a:latin typeface="Hiragino Sans"/>
              </a:rPr>
              <a:t>LINE参加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05A"/>
                </a:solidFill>
                <a:latin typeface="Hiragino Sans"/>
              </a:rPr>
              <a:t>属性把握
アンケート
（1分）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114800"/>
            <a:ext cx="2103120" cy="54864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05A"/>
                </a:solidFill>
                <a:latin typeface="Hiragino Sans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371600"/>
            <a:ext cx="2103120" cy="411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397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STAGE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783080"/>
            <a:ext cx="2103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8745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0A04"/>
                </a:solidFill>
                <a:latin typeface="Hiragino Sans"/>
              </a:rPr>
              <a:t>パッケージ
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05A"/>
                </a:solidFill>
                <a:latin typeface="Hiragino Sans"/>
              </a:rPr>
              <a:t>ヒアリング
マッチング
開始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114800"/>
            <a:ext cx="2103120" cy="54864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A$150〜200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371600"/>
            <a:ext cx="2103120" cy="411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397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STAGE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1783080"/>
            <a:ext cx="2103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8745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0A04"/>
                </a:solidFill>
                <a:latin typeface="Hiragino Sans"/>
              </a:rPr>
              <a:t>到着後
1〜2週間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05A"/>
                </a:solidFill>
                <a:latin typeface="Hiragino Sans"/>
              </a:rPr>
              <a:t>到着後
アンケート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4114800"/>
            <a:ext cx="2103120" cy="54864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A$10 CB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371600"/>
            <a:ext cx="2103120" cy="411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1397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STAGE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1783080"/>
            <a:ext cx="2103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18745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0A04"/>
                </a:solidFill>
                <a:latin typeface="Hiragino Sans"/>
              </a:rPr>
              <a:t>滞在中
3ヶ月ごと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05A"/>
                </a:solidFill>
                <a:latin typeface="Hiragino Sans"/>
              </a:rPr>
              <a:t>近況報告
レビュー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114800"/>
            <a:ext cx="2103120" cy="54864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A$5/回 CB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1371600"/>
            <a:ext cx="2103120" cy="41148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1397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STAGE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1783080"/>
            <a:ext cx="2103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18745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0A04"/>
                </a:solidFill>
                <a:latin typeface="Hiragino Sans"/>
              </a:rPr>
              <a:t>帰国前
1〜2ヶ月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05A"/>
                </a:solidFill>
                <a:latin typeface="Hiragino Sans"/>
              </a:rPr>
              <a:t>引き継ぎ
ノート作成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55480" y="4114800"/>
            <a:ext cx="2103120" cy="54864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Sans"/>
              </a:rPr>
              <a:t>A$30 CB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05A"/>
                </a:solidFill>
                <a:latin typeface="Hiragino Sans"/>
              </a:rPr>
              <a:t>12ヶ月フル参加の実質コスト：A$85〜135　（後任紹介成功で最大+A$50追加）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最大の競合優位性：引き継ぎノート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どの求人サイト・不動産サイトにも絶対に載らない「生の声」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7A2A"/>
                </a:solidFill>
                <a:latin typeface="Hiragino Sans"/>
              </a:rPr>
              <a:t>蓄積されるほど価値が高まる　→　後発の模倣が困難な参入障壁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0A04"/>
                </a:solidFill>
                <a:latin typeface="Hiragino Sans"/>
              </a:rPr>
              <a:t>💼 職場版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オーナーの名前・性格・接し方のコツ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最初の1週間でやること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時給・シフト・必要な英語レベル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絶対にやってはいけないこと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総合評価（★）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引き継ぎ者からのメッセージ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303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0A04"/>
                </a:solidFill>
                <a:latin typeface="Hiragino Sans"/>
              </a:rPr>
              <a:t>🏠 住居版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家賃・エリア・周辺環境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大家・オーナーの人柄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11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ハウスメイト情報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治安・交通アクセス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光熱費・Wi-Fi等の実態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0A04"/>
                </a:solidFill>
                <a:latin typeface="Hiragino Sans"/>
              </a:rPr>
              <a:t>• 引き継ぎ者からのメッセージ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7A2A"/>
                </a:solidFill>
                <a:latin typeface="Hiragino Sans"/>
              </a:rPr>
              <a:t>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コミュニティの現在地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私たちはすでに強力な資産を持っている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LINEグループ
（メルボルン在住日本人）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300名
（在住200名）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Facebook
「メルボルンにいる日本人」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2.7万人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Instagram
@3rd.placejapan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190人
（開始直後）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21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49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物理拠点
「皆の館」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創設者マサ氏の
アパート1室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61188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721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749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パートナー店舗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3店舗
（直接の関係）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611880"/>
            <a:ext cx="35661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21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40A04"/>
                </a:solidFill>
                <a:latin typeface="Hiragino Sans"/>
              </a:rP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749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確保済み投資家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A2A"/>
                </a:solidFill>
                <a:latin typeface="Hiragino Sans"/>
              </a:rPr>
              <a:t>1名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05A"/>
                </a:solidFill>
                <a:latin typeface="Hiragino Sans"/>
              </a:rPr>
              <a:t>東京では月1回イベント開催（参加費500円・黒字運営）　運営参加希望者 15名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ビジネスモデル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BtoCに特化した4本柱の収益構造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05A"/>
                </a:solidFill>
                <a:latin typeface="Hiragino Sans"/>
              </a:rPr>
              <a:t>なぜBtoC？　→　メルボルンは求職者が過多。店舗はレジュメが自然に集まるため採用費への動機がない。
痛みを抱えているのは求職者側。だからCからお金をもらう設計。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2743200" cy="68580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🎯 メルボルン着パッケージ
（メイン収益）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2743200" cy="50292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862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A2A"/>
                </a:solidFill>
                <a:latin typeface="Hiragino Sans"/>
              </a:rPr>
              <a:t>A$150〜200/人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3756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429000"/>
            <a:ext cx="2542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0A04"/>
                </a:solidFill>
                <a:latin typeface="Hiragino Sans"/>
              </a:rPr>
              <a:t>・渡航前Zoomブリーフィング
・仕事＆住居マッチング
・レジュメ添削
・公認推薦状
・カレー会招待
・到着後1ヶ月フォロー
・キャッシュバック最大A$100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2743200" cy="68580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📢 コミュニティ告知枠
（BtoB）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862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0A04"/>
                </a:solidFill>
                <a:latin typeface="Hiragino Sans"/>
              </a:rPr>
              <a:t>A$50〜200/回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33756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3429000"/>
            <a:ext cx="2542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0A04"/>
                </a:solidFill>
                <a:latin typeface="Hiragino Sans"/>
              </a:rPr>
              <a:t>LINE300人・FB2.7万人への告知
対象：SIM・海外保険・
語学学校・転職エージェント等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48840"/>
            <a:ext cx="2743200" cy="68580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1945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🔑 長期会員制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834640"/>
            <a:ext cx="2743200" cy="50292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862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0A04"/>
                </a:solidFill>
                <a:latin typeface="Hiragino Sans"/>
              </a:rPr>
              <a:t>A$20/月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33756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429000"/>
            <a:ext cx="2542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0A04"/>
                </a:solidFill>
                <a:latin typeface="Hiragino Sans"/>
              </a:rPr>
              <a:t>継続サポート・
コミュニティメンバー資格
引き継ぎノート閲覧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148840"/>
            <a:ext cx="2743200" cy="68580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19456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🏠 住居バトンパス
（将来展開）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834640"/>
            <a:ext cx="2743200" cy="50292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862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0A04"/>
                </a:solidFill>
                <a:latin typeface="Hiragino Sans"/>
              </a:rPr>
              <a:t>手数料制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33756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3429000"/>
            <a:ext cx="2542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0A04"/>
                </a:solidFill>
                <a:latin typeface="Hiragino Sans"/>
              </a:rPr>
              <a:t>住居の引き継ぎ仲介
ルームメイトマッチング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フェーズ計画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段階的に信頼を積み上げてスケールへ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474720" cy="4434840"/>
          </a:xfrm>
          <a:prstGeom prst="rect">
            <a:avLst/>
          </a:prstGeom>
          <a:solidFill>
            <a:srgbClr val="E87A2A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81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▶ 現在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Phase 1
〜2026年6月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iragino Sans"/>
              </a:rPr>
              <a:t>信頼の構築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iragino Sans"/>
              </a:rPr>
              <a:t>• ヒアリング 20人
• 店舗交渉 10件
• 初回マッチング（無料）
• アプリβ版リリース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59" y="1371600"/>
            <a:ext cx="34747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19" y="1463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0A04"/>
                </a:solidFill>
                <a:latin typeface="Hiragino Sans"/>
              </a:rPr>
              <a:t>Phase 2
2026年7〜9月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19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0A04"/>
                </a:solidFill>
                <a:latin typeface="Hiragino Sans"/>
              </a:rPr>
              <a:t>マネタイズ開始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19" y="26974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05A"/>
                </a:solidFill>
                <a:latin typeface="Hiragino Sans"/>
              </a:rPr>
              <a:t>• 有料パッケージ販売
• BtoB告知枠営業
• 引き継ぎノート拡充
• SNS本格運用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398" y="1371600"/>
            <a:ext cx="3474720" cy="4434840"/>
          </a:xfrm>
          <a:prstGeom prst="rect">
            <a:avLst/>
          </a:prstGeom>
          <a:solidFill>
            <a:srgbClr val="140A04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58" y="1463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Phase 3
2026年10月〜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8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iragino Sans"/>
              </a:rPr>
              <a:t>スケール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8" y="26974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iragino Sans"/>
              </a:rPr>
              <a:t>• 登録店舗 30店
• 求職者 200人
• マッチング 100件
• 月収 A$2,000〜3,000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5897880"/>
            <a:ext cx="3200400" cy="18288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5897880"/>
            <a:ext cx="2286000" cy="18288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5897880"/>
            <a:ext cx="2286000" cy="18288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0" y="6080760"/>
            <a:ext cx="32004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6080760"/>
            <a:ext cx="2286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6080760"/>
            <a:ext cx="2286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6263640"/>
            <a:ext cx="32004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6263640"/>
            <a:ext cx="22860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6263640"/>
            <a:ext cx="22860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6446520"/>
            <a:ext cx="32004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6446520"/>
            <a:ext cx="2286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6446520"/>
            <a:ext cx="2286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6629400"/>
            <a:ext cx="32004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6629400"/>
            <a:ext cx="22860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6629400"/>
            <a:ext cx="2286000" cy="18288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7A2A"/>
                </a:solidFill>
                <a:latin typeface="Hiragino Sans"/>
              </a:rPr>
              <a:t>私たちが目指す世界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Hiragino Sans"/>
              </a:rPr>
              <a:t>「メルボルンに行くなら
3rd Place Hub に相談する」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8F0"/>
                </a:solidFill>
                <a:latin typeface="Hiragino Sans"/>
              </a:rPr>
              <a:t>が当たり前になるコミュニティ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0A04"/>
                </a:solidFill>
                <a:latin typeface="Hiragino Sans"/>
              </a:rPr>
              <a:t>🔄  先輩から後輩へ。経験が循環するエコシステム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23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0A04"/>
                </a:solidFill>
                <a:latin typeface="Hiragino Sans"/>
              </a:rPr>
              <a:t>🌏  メルボルン発・海外在住日本人の新しいセーフティネット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126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40A04"/>
                </a:solidFill>
                <a:latin typeface="Hiragino Sans"/>
              </a:rPr>
              <a:t>💚  まごころが報われるコミュニティ経済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iragino Sans"/>
              </a:rPr>
              <a:t>一緒に運営しませんか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A2A"/>
                </a:solidFill>
                <a:latin typeface="Hiragino Sans"/>
              </a:rPr>
              <a:t>3rd Place Hub は仲間を探しています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8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40A04"/>
                </a:solidFill>
                <a:latin typeface="Hiragino Sans"/>
              </a:rPr>
              <a:t>私たちが求めているのは、メルボルンという場所が好きで、
誰かの役に立つことに喜びを感じる人です。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A2A"/>
                </a:solidFill>
                <a:latin typeface="Hiragino Sans"/>
              </a:rPr>
              <a:t>🤝 マッチング担当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0A04"/>
                </a:solidFill>
                <a:latin typeface="Hiragino Sans"/>
              </a:rPr>
              <a:t>求職者のヒアリング
店舗との関係構築
引き継ぎノートの整備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28600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A2A"/>
                </a:solidFill>
                <a:latin typeface="Hiragino Sans"/>
              </a:rPr>
              <a:t>📱 SNS・発信担当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803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0A04"/>
                </a:solidFill>
                <a:latin typeface="Hiragino Sans"/>
              </a:rPr>
              <a:t>Instagram/LINE運用
体験談コンテンツ制作
コミュニティイベント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14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A2A"/>
                </a:solidFill>
                <a:latin typeface="Hiragino Sans"/>
              </a:rPr>
              <a:t>💼 営業・渉外担当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0A04"/>
                </a:solidFill>
                <a:latin typeface="Hiragino Sans"/>
              </a:rPr>
              <a:t>店舗開拓・交渉
BtoB広告枠の提案
投資家向け資料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02336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114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A2A"/>
                </a:solidFill>
                <a:latin typeface="Hiragino Sans"/>
              </a:rPr>
              <a:t>💻 テック担当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617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0A04"/>
                </a:solidFill>
                <a:latin typeface="Hiragino Sans"/>
              </a:rPr>
              <a:t>アプリ開発・改善
DB設計・自動化
KPI管理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7A2A"/>
                </a:solidFill>
                <a:latin typeface="Hiragino Sans"/>
              </a:rPr>
              <a:t>まずは一緒にカレー会から！　Instagram: @3rd.placejapan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